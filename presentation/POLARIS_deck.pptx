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mbria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290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DCE6EF"/>
                </a:solidFill>
                <a:latin typeface="Calibri"/>
              </a:rPr>
              <a:t>Calibrated triangulation of non-coding variant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0233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DCE6EF"/>
                </a:solidFill>
                <a:latin typeface="Calibri"/>
              </a:rPr>
              <a:t>into mechanism and target gene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9E89"/>
                </a:solidFill>
                <a:latin typeface="Calibri"/>
              </a:rPr>
              <a:t>type 2 diabetes + coronary artery disease  ·  transparent  ·  reproducible from public APIs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mbria"/>
              </a:rPr>
              <a:t>90% of disease variants are non-coding — the bottleneck is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Calibri"/>
              </a:rPr>
              <a:t>Powerful oracles disagree, are uncalibrated, and conflate molecular effect with disease cause. POLARIS turns the two guardrails into mathematics.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/>
          <a:lstStyle/>
          <a:p>
            <a:pPr algn="ctr"/>
            <a:r>
              <a:rPr sz="1900" b="1">
                <a:solidFill>
                  <a:srgbClr val="FFFFFF"/>
                </a:solidFill>
                <a:latin typeface="Cambria"/>
              </a:rPr>
              <a:t>Guardrail 1 — functional ≠ pathogenic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Posterior factorizes into molecular-function × disease-linkage. Rarity is INVERTED for common-variant traits (replicated in 2 diseases).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4884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03200"/>
          <a:lstStyle/>
          <a:p>
            <a:pPr algn="ctr"/>
            <a:r>
              <a:rPr sz="1900" b="1">
                <a:solidFill>
                  <a:srgbClr val="FFFFFF"/>
                </a:solidFill>
                <a:latin typeface="Cambria"/>
              </a:rPr>
              <a:t>Guardrail 2 — distrust any single oracle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Each channel is a noisy annotator; a latent-truth EM learns its reliability. Channels are largely independent (Marchenko–Pastur).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The pipeline — six steps, entirely from public data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26" y="1234440"/>
            <a:ext cx="7921698" cy="4617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Ranked variant → gene hypotheses with an auditable mechanism and a calibrated probability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Every engine built from scratch and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9E89"/>
                </a:solidFill>
                <a:latin typeface="Calibri"/>
              </a:rPr>
              <a:t>from-scratch statistical &amp; biophysical engines</a:t>
            </a:r>
          </a:p>
        </p:txBody>
      </p:sp>
      <p:pic>
        <p:nvPicPr>
          <p:cNvPr id="4" name="Picture 3" descr="fig_method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64" y="1234440"/>
            <a:ext cx="6136823" cy="4617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SuSiE fine-mapping, Bayesian coloc, reliability EM, and the information-theoretic motif logo — all validated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Calibrated triangulation in type 2 diabetes</a:t>
            </a:r>
          </a:p>
        </p:txBody>
      </p:sp>
      <p:pic>
        <p:nvPicPr>
          <p:cNvPr id="3" name="Picture 2" descr="fig_result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30" y="1234440"/>
            <a:ext cx="6690290" cy="4617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The EM learns conservation is most reliable; causal variants are conserved but NOT rare; channels independent; ECE = 0.005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Generalization — the same behavior transfers to a second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9E89"/>
                </a:solidFill>
                <a:latin typeface="Calibri"/>
              </a:rPr>
              <a:t>T2D → coronary artery disease</a:t>
            </a:r>
          </a:p>
        </p:txBody>
      </p:sp>
      <p:pic>
        <p:nvPicPr>
          <p:cNvPr id="4" name="Picture 3" descr="fig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979" y="1234440"/>
            <a:ext cx="6710993" cy="4617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Conservation enrichment, rarity inversion, reliability ordering, and gene nomination all replicate in CAD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Vignette — FTO rs1421085 → ARID5B → IRX3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9E89"/>
                </a:solidFill>
                <a:latin typeface="Calibri"/>
              </a:rPr>
              <a:t>biophysics → dynamics → calibrated hypothesis</a:t>
            </a:r>
          </a:p>
        </p:txBody>
      </p:sp>
      <p:pic>
        <p:nvPicPr>
          <p:cNvPr id="4" name="Picture 3" descr="fig_vignette_f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230" y="1234440"/>
            <a:ext cx="6536490" cy="4617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One variant, three gene calls. POLARIS recovers the textbook distal mechanism from first principles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The evidence landscape of top hypotheses</a:t>
            </a:r>
          </a:p>
        </p:txBody>
      </p:sp>
      <p:pic>
        <p:nvPicPr>
          <p:cNvPr id="3" name="Picture 2" descr="fig_evide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69" y="1234440"/>
            <a:ext cx="7335013" cy="4617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18 of 22 gene calls correct; the misses are the known-hard distal/imprinted loci, each with a transparent mechanism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mbria"/>
              </a:rPr>
              <a:t>Statistical rigor — bootstrap, permutation, abstention</a:t>
            </a:r>
          </a:p>
        </p:txBody>
      </p:sp>
      <p:pic>
        <p:nvPicPr>
          <p:cNvPr id="3" name="Picture 2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71" y="1234440"/>
            <a:ext cx="7023009" cy="4617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500" b="1">
                <a:solidFill>
                  <a:srgbClr val="10263F"/>
                </a:solidFill>
                <a:latin typeface="Calibri"/>
              </a:rPr>
              <a:t>phyloP dominance is significant (perm p = 0.013); confidence-stratified abstention raises gene precision to 0.89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By the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F9E89"/>
                </a:solidFill>
                <a:latin typeface="Cambria"/>
              </a:rPr>
              <a:t>85%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gene top-1 (control loci)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0A202"/>
                </a:solidFill>
                <a:latin typeface="Cambria"/>
              </a:rPr>
              <a:t>569 + 260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fine-mapped variants (T2D+CAD)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F9E89"/>
                </a:solidFill>
                <a:latin typeface="Cambria"/>
              </a:rPr>
              <a:t>0.0045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calibration error (ECE)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0A202"/>
                </a:solidFill>
                <a:latin typeface="Cambria"/>
              </a:rPr>
              <a:t>0.68 / 0.87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conservation AUC (T2D / CAD)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490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F9E89"/>
                </a:solidFill>
                <a:latin typeface="Cambria"/>
              </a:rPr>
              <a:t>5/7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independent evidence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7490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 w="12700">
            <a:solidFill>
              <a:srgbClr val="1F9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0A202"/>
                </a:solidFill>
                <a:latin typeface="Cambria"/>
              </a:rPr>
              <a:t>p = 0.013</a:t>
            </a:r>
          </a:p>
          <a:p>
            <a:pPr algn="ctr"/>
            <a:r>
              <a:rPr sz="1300">
                <a:solidFill>
                  <a:srgbClr val="DCE6EF"/>
                </a:solidFill>
                <a:latin typeface="Calibri"/>
              </a:rPr>
              <a:t>phyloP reliability (permutation)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mbria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235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CE6EF"/>
                </a:solidFill>
                <a:latin typeface="Calibri"/>
              </a:rPr>
              <a:t>•  Credibility = calibrated convergence across independent, fallible evidence — not any single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56432"/>
            <a:ext cx="9235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CE6EF"/>
                </a:solidFill>
                <a:latin typeface="Calibri"/>
              </a:rPr>
              <a:t>•  Transparent biophysics recovers textbook mechanisms (ARID5B, SORT1) from first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9664"/>
            <a:ext cx="9235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CE6EF"/>
                </a:solidFill>
                <a:latin typeface="Calibri"/>
              </a:rPr>
              <a:t>•  Oracle-agnostic: black boxes like AlphaGenome can be calibrated, not blindly trusted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9E89"/>
                </a:solidFill>
                <a:latin typeface="Calibri"/>
              </a:rPr>
              <a:t>Candidate A · GWAS hit → mechanistic hypothesis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